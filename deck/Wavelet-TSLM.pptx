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11827"/>
                </a:solidFill>
                <a:latin typeface="Calibri"/>
              </a:defRPr>
            </a:pPr>
            <a:r>
              <a:rPr sz="1600" b="0" i="0" u="none" strike="noStrike">
                <a:solidFill>
                  <a:srgbClr val="111827"/>
                </a:solidFill>
                <a:latin typeface="Calibri"/>
              </a:rPr>
              <a:t>Official score, AnomalyXL test set (higher is better)</a:t>
            </a:r>
          </a:p>
        </c:rich>
      </c:tx>
      <c:layout/>
      <c:overlay val="0"/>
    </c:title>
    <c:autoTitleDeleted val="0"/>
    <c:plotArea>
      <c:layout/>
      <c:barChart>
        <c:barDir val="col"/>
        <c:grouping val="clustered"/>
        <c:varyColors val="0"/>
        <c:ser>
          <c:idx val="0"/>
          <c:order val="0"/>
          <c:tx>
            <c:strRef>
              <c:f>Sheet1!$B$1</c:f>
              <c:strCache>
                <c:ptCount val="1"/>
                <c:pt idx="0">
                  <c:v>ChatTS</c:v>
                </c:pt>
              </c:strCache>
            </c:strRef>
          </c:tx>
          <c:spPr>
            <a:solidFill>
              <a:srgbClr val="9AA8BE"/>
            </a:solidFill>
            <a:effectLst/>
          </c:spPr>
          <c:invertIfNegative val="0"/>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Localize</c:v>
                  </c:pt>
                  <c:pt idx="1">
                    <c:v>Classify</c:v>
                  </c:pt>
                  <c:pt idx="2">
                    <c:v>Multichannel</c:v>
                  </c:pt>
                </c:lvl>
              </c:multiLvlStrCache>
            </c:multiLvlStrRef>
          </c:cat>
          <c:val>
            <c:numRef>
              <c:f>Sheet1!$B$2:$B$4</c:f>
              <c:numCache>
                <c:formatCode>General</c:formatCode>
                <c:ptCount val="3"/>
                <c:pt idx="0">
                  <c:v>0.003</c:v>
                </c:pt>
                <c:pt idx="1">
                  <c:v>0</c:v>
                </c:pt>
                <c:pt idx="2">
                  <c:v>0</c:v>
                </c:pt>
              </c:numCache>
            </c:numRef>
          </c:val>
        </c:ser>
        <c:ser>
          <c:idx val="1"/>
          <c:order val="1"/>
          <c:tx>
            <c:strRef>
              <c:f>Sheet1!$C$1</c:f>
              <c:strCache>
                <c:ptCount val="1"/>
                <c:pt idx="0">
                  <c:v>OpenTSLM-Flamingo</c:v>
                </c:pt>
              </c:strCache>
            </c:strRef>
          </c:tx>
          <c:spPr>
            <a:solidFill>
              <a:srgbClr val="7F8EA8"/>
            </a:solidFill>
            <a:effectLst/>
          </c:spPr>
          <c:invertIfNegative val="0"/>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Localize</c:v>
                  </c:pt>
                  <c:pt idx="1">
                    <c:v>Classify</c:v>
                  </c:pt>
                  <c:pt idx="2">
                    <c:v>Multichannel</c:v>
                  </c:pt>
                </c:lvl>
              </c:multiLvlStrCache>
            </c:multiLvlStrRef>
          </c:cat>
          <c:val>
            <c:numRef>
              <c:f>Sheet1!$C$2:$C$4</c:f>
              <c:numCache>
                <c:formatCode>General</c:formatCode>
                <c:ptCount val="3"/>
                <c:pt idx="0">
                  <c:v>0.008</c:v>
                </c:pt>
                <c:pt idx="1">
                  <c:v>0</c:v>
                </c:pt>
                <c:pt idx="2">
                  <c:v>0.23</c:v>
                </c:pt>
              </c:numCache>
            </c:numRef>
          </c:val>
        </c:ser>
        <c:ser>
          <c:idx val="2"/>
          <c:order val="2"/>
          <c:tx>
            <c:strRef>
              <c:f>Sheet1!$D$1</c:f>
              <c:strCache>
                <c:ptCount val="1"/>
                <c:pt idx="0">
                  <c:v>ITFormer</c:v>
                </c:pt>
              </c:strCache>
            </c:strRef>
          </c:tx>
          <c:spPr>
            <a:solidFill>
              <a:srgbClr val="64748F"/>
            </a:solidFill>
            <a:effectLst/>
          </c:spPr>
          <c:invertIfNegative val="0"/>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Localize</c:v>
                  </c:pt>
                  <c:pt idx="1">
                    <c:v>Classify</c:v>
                  </c:pt>
                  <c:pt idx="2">
                    <c:v>Multichannel</c:v>
                  </c:pt>
                </c:lvl>
              </c:multiLvlStrCache>
            </c:multiLvlStrRef>
          </c:cat>
          <c:val>
            <c:numRef>
              <c:f>Sheet1!$D$2:$D$4</c:f>
              <c:numCache>
                <c:formatCode>General</c:formatCode>
                <c:ptCount val="3"/>
                <c:pt idx="0">
                  <c:v>0.004</c:v>
                </c:pt>
                <c:pt idx="1">
                  <c:v>0.001</c:v>
                </c:pt>
                <c:pt idx="2">
                  <c:v>0.23</c:v>
                </c:pt>
              </c:numCache>
            </c:numRef>
          </c:val>
        </c:ser>
        <c:ser>
          <c:idx val="3"/>
          <c:order val="3"/>
          <c:tx>
            <c:strRef>
              <c:f>Sheet1!$E$1</c:f>
              <c:strCache>
                <c:ptCount val="1"/>
                <c:pt idx="0">
                  <c:v>Toto 32B</c:v>
                </c:pt>
              </c:strCache>
            </c:strRef>
          </c:tx>
          <c:spPr>
            <a:solidFill>
              <a:srgbClr val="3B4A66"/>
            </a:solidFill>
            <a:effectLst/>
          </c:spPr>
          <c:invertIfNegative val="0"/>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Localize</c:v>
                  </c:pt>
                  <c:pt idx="1">
                    <c:v>Classify</c:v>
                  </c:pt>
                  <c:pt idx="2">
                    <c:v>Multichannel</c:v>
                  </c:pt>
                </c:lvl>
              </c:multiLvlStrCache>
            </c:multiLvlStrRef>
          </c:cat>
          <c:val>
            <c:numRef>
              <c:f>Sheet1!$E$2:$E$4</c:f>
              <c:numCache>
                <c:formatCode>General</c:formatCode>
                <c:ptCount val="3"/>
                <c:pt idx="0">
                  <c:v>0.323</c:v>
                </c:pt>
                <c:pt idx="1">
                  <c:v>0.072</c:v>
                </c:pt>
                <c:pt idx="2">
                  <c:v>0.224</c:v>
                </c:pt>
              </c:numCache>
            </c:numRef>
          </c:val>
        </c:ser>
        <c:ser>
          <c:idx val="4"/>
          <c:order val="4"/>
          <c:tx>
            <c:strRef>
              <c:f>Sheet1!$F$1</c:f>
              <c:strCache>
                <c:ptCount val="1"/>
                <c:pt idx="0">
                  <c:v>Wavelet-TSLM</c:v>
                </c:pt>
              </c:strCache>
            </c:strRef>
          </c:tx>
          <c:spPr>
            <a:solidFill>
              <a:srgbClr val="ED1C24"/>
            </a:solidFill>
            <a:effectLst/>
          </c:spPr>
          <c:invertIfNegative val="0"/>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Localize</c:v>
                  </c:pt>
                  <c:pt idx="1">
                    <c:v>Classify</c:v>
                  </c:pt>
                  <c:pt idx="2">
                    <c:v>Multichannel</c:v>
                  </c:pt>
                </c:lvl>
              </c:multiLvlStrCache>
            </c:multiLvlStrRef>
          </c:cat>
          <c:val>
            <c:numRef>
              <c:f>Sheet1!$F$2:$F$4</c:f>
              <c:numCache>
                <c:formatCode>General</c:formatCode>
                <c:ptCount val="3"/>
                <c:pt idx="0">
                  <c:v>0.606</c:v>
                </c:pt>
                <c:pt idx="1">
                  <c:v>0.333</c:v>
                </c:pt>
                <c:pt idx="2">
                  <c:v>0.752</c:v>
                </c:pt>
              </c:numCache>
            </c:numRef>
          </c:val>
        </c:ser>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111827"/>
                </a:solidFill>
                <a:latin typeface="Calibri"/>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D5DB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11182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TimeRLM agent (Qwen3.5-4B, after RL), published</c:v>
                </c:pt>
              </c:strCache>
            </c:strRef>
          </c:tx>
          <c:spPr>
            <a:solidFill>
              <a:srgbClr val="9AA8BE"/>
            </a:solidFill>
            <a:effectLst/>
          </c:spPr>
          <c:invertIfNegative val="0"/>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Localize</c:v>
                  </c:pt>
                  <c:pt idx="1">
                    <c:v>Classify</c:v>
                  </c:pt>
                  <c:pt idx="2">
                    <c:v>Magnitude</c:v>
                  </c:pt>
                  <c:pt idx="3">
                    <c:v>Multichannel</c:v>
                  </c:pt>
                  <c:pt idx="4">
                    <c:v>Lead-lag</c:v>
                  </c:pt>
                </c:lvl>
              </c:multiLvlStrCache>
            </c:multiLvlStrRef>
          </c:cat>
          <c:val>
            <c:numRef>
              <c:f>Sheet1!$B$2:$B$6</c:f>
              <c:numCache>
                <c:formatCode>General</c:formatCode>
                <c:ptCount val="5"/>
                <c:pt idx="0">
                  <c:v>0.538</c:v>
                </c:pt>
                <c:pt idx="1">
                  <c:v>0.364</c:v>
                </c:pt>
                <c:pt idx="2">
                  <c:v>0.51</c:v>
                </c:pt>
                <c:pt idx="3">
                  <c:v>0.244</c:v>
                </c:pt>
                <c:pt idx="4">
                  <c:v>0.687</c:v>
                </c:pt>
              </c:numCache>
            </c:numRef>
          </c:val>
        </c:ser>
        <c:ser>
          <c:idx val="1"/>
          <c:order val="1"/>
          <c:tx>
            <c:strRef>
              <c:f>Sheet1!$C$1</c:f>
              <c:strCache>
                <c:ptCount val="1"/>
                <c:pt idx="0">
                  <c:v>Wavelet-TSLM (one call)</c:v>
                </c:pt>
              </c:strCache>
            </c:strRef>
          </c:tx>
          <c:spPr>
            <a:solidFill>
              <a:srgbClr val="ED1C24"/>
            </a:solidFill>
            <a:effectLst/>
          </c:spPr>
          <c:invertIfNegative val="0"/>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cat>
            <c:multiLvlStrRef>
              <c:f>Sheet1!$A$2:$A$6</c:f>
              <c:multiLvlStrCache>
                <c:ptCount val="5"/>
                <c:lvl>
                  <c:pt idx="0">
                    <c:v>Localize</c:v>
                  </c:pt>
                  <c:pt idx="1">
                    <c:v>Classify</c:v>
                  </c:pt>
                  <c:pt idx="2">
                    <c:v>Magnitude</c:v>
                  </c:pt>
                  <c:pt idx="3">
                    <c:v>Multichannel</c:v>
                  </c:pt>
                  <c:pt idx="4">
                    <c:v>Lead-lag</c:v>
                  </c:pt>
                </c:lvl>
              </c:multiLvlStrCache>
            </c:multiLvlStrRef>
          </c:cat>
          <c:val>
            <c:numRef>
              <c:f>Sheet1!$C$2:$C$6</c:f>
              <c:numCache>
                <c:formatCode>General</c:formatCode>
                <c:ptCount val="5"/>
                <c:pt idx="0">
                  <c:v>0.606</c:v>
                </c:pt>
                <c:pt idx="1">
                  <c:v>0.333</c:v>
                </c:pt>
                <c:pt idx="2">
                  <c:v>0.314</c:v>
                </c:pt>
                <c:pt idx="3">
                  <c:v>0.752</c:v>
                </c:pt>
                <c:pt idx="4">
                  <c:v>0.251</c:v>
                </c:pt>
              </c:numCache>
            </c:numRef>
          </c:val>
        </c:ser>
        <c:dLbls>
          <c:numFmt formatCode="0.00" sourceLinked="0"/>
          <c:txPr>
            <a:bodyPr/>
            <a:lstStyle/>
            <a:p>
              <a:pPr>
                <a:defRPr b="0" i="0" strike="noStrike" sz="1100" u="none">
                  <a:solidFill>
                    <a:srgbClr val="11182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11827"/>
                </a:solidFill>
                <a:latin typeface="Calibri"/>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D5DB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1182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you know what Time Series Language Models are? They are multimodal LLMs whose extra input is a time series. Until yesterday there were ChatTS, OpenTSLM, ITFormer and Toto. From today there is a new one: Wavelet-TSLM, my submission for this hackathon.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TSLM is a large language model whose multimodal input is a time series. The ones that existed until now: ChatTS, OpenTSLM-Flamingo and ITFormer, built on a frozen Chronos-2 encoder from Amazon and a Qwen3.5-4B backbone, and Toto, a 32B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submission is a fine-tuned Qwen adapted to receive temporal embeddings. A Haar-wavelet encoder turns the long series into tokens, a Qwen3.5-4B backbone with LoRA reasons over them, and a localization head returns where the anomaly starts and ends. It was trained only on synthetic anomalies from the AnomalyXL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benchmarks, using the results of the ETH Zurich paper, TimeRLM, Table 1, without the agentic model. On localization my model scores 0.61 against 0.32 for the best TSLM, a 32 billion parameter Toto. The same on classification and multichannel. To be honest, on magnitude and lead-lag the baselines are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ask why the others sit close to zero. This benchmark was built for series with hundreds of thousands of samples. In the public code the baseline TSLMs only see the last 8,192 samples of each channel, and ChatTS runs out of memory on multichannel. My model reads up to 131,072 samples per channel, sixteen times more. It is a design limit of those models, not a flaw: they were not built for this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competitor on long series is the agentic model by Nicolas Zumarraga, TimeRLM. It is not a native time series language model: it is a Qwen without a temporal encoder working in a Python sandbox. Against its published numbers, same Qwen3.5-4B backbone after reinforcement learning, my model is higher on localization and on multichannel. It is lower on classification, magnitude and lead-lag. And on industrial windows we measured about seven turns and five minutes per window for the agent, against one call for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tested it on a real industrial control testbed, HAI 21.03, with no training on it: 38 windows of 9 hours and 16 channels, 50 documented attacks. The model touched 34 of the 50 attacks, against about 7 expected at random, and 60 percent of its intervals land on an attack, against 4.5 percent by chance. The limit: it also flags the windows without attacks, so it is a ranking of the most anomalous stretches, not an alarm. On MetroPT-3 it did not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ran on AMD: ROCm and Instinct MI300X. A FlexAttention kernel padded to 512 brings attention memory from 65.4 to 3.5 GiB at 16k context, measured on forward plus backward. The runs on the AMD Developer Cloud, four MI300X droplets, cost under ten dollars. Wavelet-TSLM: a new time series language model, on AMD.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9AA8BE"/>
                </a:solidFill>
                <a:latin typeface="Calibri" pitchFamily="34" charset="0"/>
                <a:ea typeface="Calibri" pitchFamily="34" charset="-122"/>
                <a:cs typeface="Calibri" pitchFamily="34" charset="-120"/>
              </a:rPr>
              <a:t>Wavelet-TSLM · AMD Developer Hackathon: ACT III · Intelligent Industry     1/8</a:t>
            </a:r>
            <a:endParaRPr lang="en-US" sz="1100" dirty="0"/>
          </a:p>
        </p:txBody>
      </p:sp>
      <p:sp>
        <p:nvSpPr>
          <p:cNvPr id="4" name="Text 1"/>
          <p:cNvSpPr txBox="1"/>
          <p:nvPr/>
        </p:nvSpPr>
        <p:spPr>
          <a:xfrm>
            <a:off x="731520" y="2011680"/>
            <a:ext cx="10515600" cy="109728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Wavelet-TSLM</a:t>
            </a:r>
            <a:endParaRPr lang="en-US" sz="6600" dirty="0"/>
          </a:p>
        </p:txBody>
      </p:sp>
      <p:sp>
        <p:nvSpPr>
          <p:cNvPr id="5" name="Text 2"/>
          <p:cNvSpPr txBox="1"/>
          <p:nvPr/>
        </p:nvSpPr>
        <p:spPr>
          <a:xfrm>
            <a:off x="731520" y="3200400"/>
            <a:ext cx="10515600" cy="640080"/>
          </a:xfrm>
          <a:prstGeom prst="rect">
            <a:avLst/>
          </a:prstGeom>
          <a:noFill/>
          <a:ln/>
        </p:spPr>
        <p:txBody>
          <a:bodyPr wrap="square" lIns="0" tIns="0" rIns="0" bIns="0" rtlCol="0" anchor="ctr"/>
          <a:lstStyle/>
          <a:p>
            <a:pPr indent="0" marL="0">
              <a:buNone/>
            </a:pPr>
            <a:r>
              <a:rPr lang="en-US" sz="2800" b="1" dirty="0">
                <a:solidFill>
                  <a:srgbClr val="ED1C24"/>
                </a:solidFill>
                <a:latin typeface="Calibri" pitchFamily="34" charset="0"/>
                <a:ea typeface="Calibri" pitchFamily="34" charset="-122"/>
                <a:cs typeface="Calibri" pitchFamily="34" charset="-120"/>
              </a:rPr>
              <a:t>A new Time Series Language Model for long industrial telemetry</a:t>
            </a:r>
            <a:endParaRPr lang="en-US" sz="2800" dirty="0"/>
          </a:p>
        </p:txBody>
      </p:sp>
      <p:sp>
        <p:nvSpPr>
          <p:cNvPr id="6" name="Text 3"/>
          <p:cNvSpPr txBox="1"/>
          <p:nvPr/>
        </p:nvSpPr>
        <p:spPr>
          <a:xfrm>
            <a:off x="731520" y="4114800"/>
            <a:ext cx="10515600" cy="1097280"/>
          </a:xfrm>
          <a:prstGeom prst="rect">
            <a:avLst/>
          </a:prstGeom>
          <a:noFill/>
          <a:ln/>
        </p:spPr>
        <p:txBody>
          <a:bodyPr wrap="square" lIns="0" tIns="0" rIns="0" bIns="0" rtlCol="0" anchor="ctr"/>
          <a:lstStyle/>
          <a:p>
            <a:pPr indent="0" marL="0">
              <a:buNone/>
            </a:pPr>
            <a:r>
              <a:rPr lang="en-US" sz="2000" dirty="0">
                <a:solidFill>
                  <a:srgbClr val="9AA8BE"/>
                </a:solidFill>
                <a:latin typeface="Calibri" pitchFamily="34" charset="0"/>
                <a:ea typeface="Calibri" pitchFamily="34" charset="-122"/>
                <a:cs typeface="Calibri" pitchFamily="34" charset="-120"/>
              </a:rPr>
              <a:t>Fine-tuned Qwen3.5-4B that reads temporal embeddings · runs on AMD Instinct MI300X (ROCm)</a:t>
            </a:r>
            <a:endParaRPr lang="en-US" sz="2000" dirty="0"/>
          </a:p>
          <a:p>
            <a:pPr indent="0" marL="0">
              <a:buNone/>
            </a:pPr>
            <a:r>
              <a:rPr lang="en-US" sz="2000" dirty="0">
                <a:solidFill>
                  <a:srgbClr val="9AA8BE"/>
                </a:solidFill>
                <a:latin typeface="Calibri" pitchFamily="34" charset="0"/>
                <a:ea typeface="Calibri" pitchFamily="34" charset="-122"/>
                <a:cs typeface="Calibri" pitchFamily="34" charset="-120"/>
              </a:rPr>
              <a:t>Track: Intelligent Industry · Team PoliMi · Jacopo D'Abundo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11827"/>
                </a:solidFill>
                <a:latin typeface="Calibri" pitchFamily="34" charset="0"/>
                <a:ea typeface="Calibri" pitchFamily="34" charset="-122"/>
                <a:cs typeface="Calibri" pitchFamily="34" charset="-120"/>
              </a:rPr>
              <a:t>What is a Time Series Language Model?</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Wavelet-TSLM · AMD Developer Hackathon: ACT III · Intelligent Industry     2/8</a:t>
            </a:r>
            <a:endParaRPr lang="en-US" sz="1100" dirty="0"/>
          </a:p>
        </p:txBody>
      </p:sp>
      <p:sp>
        <p:nvSpPr>
          <p:cNvPr id="5" name="Text 2"/>
          <p:cNvSpPr txBox="1"/>
          <p:nvPr/>
        </p:nvSpPr>
        <p:spPr>
          <a:xfrm>
            <a:off x="548640" y="1280160"/>
            <a:ext cx="11064240" cy="548640"/>
          </a:xfrm>
          <a:prstGeom prst="rect">
            <a:avLst/>
          </a:prstGeom>
          <a:noFill/>
          <a:ln/>
        </p:spPr>
        <p:txBody>
          <a:bodyPr wrap="square" lIns="0" tIns="0" rIns="0" bIns="0" rtlCol="0" anchor="ctr"/>
          <a:lstStyle/>
          <a:p>
            <a:pPr indent="0" marL="0">
              <a:buNone/>
            </a:pPr>
            <a:r>
              <a:rPr lang="en-US" sz="2200" dirty="0">
                <a:solidFill>
                  <a:srgbClr val="5B6B84"/>
                </a:solidFill>
                <a:latin typeface="Calibri" pitchFamily="34" charset="0"/>
                <a:ea typeface="Calibri" pitchFamily="34" charset="-122"/>
                <a:cs typeface="Calibri" pitchFamily="34" charset="-120"/>
              </a:rPr>
              <a:t>An LLM whose multimodal input is a time series, not an image or text</a:t>
            </a:r>
            <a:endParaRPr lang="en-US" sz="2200" dirty="0"/>
          </a:p>
        </p:txBody>
      </p:sp>
      <p:sp>
        <p:nvSpPr>
          <p:cNvPr id="6" name="Text 3"/>
          <p:cNvSpPr txBox="1"/>
          <p:nvPr/>
        </p:nvSpPr>
        <p:spPr>
          <a:xfrm>
            <a:off x="548640" y="2194560"/>
            <a:ext cx="5486400" cy="457200"/>
          </a:xfrm>
          <a:prstGeom prst="rect">
            <a:avLst/>
          </a:prstGeom>
          <a:noFill/>
          <a:ln/>
        </p:spPr>
        <p:txBody>
          <a:bodyPr wrap="square" lIns="0" tIns="0" rIns="0" bIns="0" rtlCol="0" anchor="ctr"/>
          <a:lstStyle/>
          <a:p>
            <a:pPr indent="0" marL="0">
              <a:buNone/>
            </a:pPr>
            <a:r>
              <a:rPr lang="en-US" sz="2200" b="1" dirty="0">
                <a:solidFill>
                  <a:srgbClr val="111827"/>
                </a:solidFill>
                <a:latin typeface="Calibri" pitchFamily="34" charset="0"/>
                <a:ea typeface="Calibri" pitchFamily="34" charset="-122"/>
                <a:cs typeface="Calibri" pitchFamily="34" charset="-120"/>
              </a:rPr>
              <a:t>Until yesterday</a:t>
            </a:r>
            <a:endParaRPr lang="en-US" sz="2200" dirty="0"/>
          </a:p>
        </p:txBody>
      </p:sp>
      <p:sp>
        <p:nvSpPr>
          <p:cNvPr id="7" name="Shape 4"/>
          <p:cNvSpPr/>
          <p:nvPr/>
        </p:nvSpPr>
        <p:spPr>
          <a:xfrm>
            <a:off x="548640" y="2743200"/>
            <a:ext cx="2651760" cy="1645920"/>
          </a:xfrm>
          <a:prstGeom prst="roundRect">
            <a:avLst>
              <a:gd name="adj" fmla="val 5556"/>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731520" y="2926080"/>
            <a:ext cx="2286000" cy="54864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ChatTS</a:t>
            </a:r>
            <a:endParaRPr lang="en-US" sz="2000" dirty="0"/>
          </a:p>
        </p:txBody>
      </p:sp>
      <p:sp>
        <p:nvSpPr>
          <p:cNvPr id="9" name="Text 6"/>
          <p:cNvSpPr txBox="1"/>
          <p:nvPr/>
        </p:nvSpPr>
        <p:spPr>
          <a:xfrm>
            <a:off x="731520" y="3566160"/>
            <a:ext cx="2286000" cy="640080"/>
          </a:xfrm>
          <a:prstGeom prst="rect">
            <a:avLst/>
          </a:prstGeom>
          <a:noFill/>
          <a:ln/>
        </p:spPr>
        <p:txBody>
          <a:bodyPr wrap="square" lIns="0" tIns="0" rIns="0" bIns="0" rtlCol="0" anchor="ctr"/>
          <a:lstStyle/>
          <a:p>
            <a:pPr indent="0" marL="0">
              <a:buNone/>
            </a:pPr>
            <a:r>
              <a:rPr lang="en-US" sz="1400" dirty="0">
                <a:solidFill>
                  <a:srgbClr val="5B6B84"/>
                </a:solidFill>
                <a:latin typeface="Calibri" pitchFamily="34" charset="0"/>
                <a:ea typeface="Calibri" pitchFamily="34" charset="-122"/>
                <a:cs typeface="Calibri" pitchFamily="34" charset="-120"/>
              </a:rPr>
              <a:t>Qwen3.5-4B + Chronos-2</a:t>
            </a:r>
            <a:endParaRPr lang="en-US" sz="1400" dirty="0"/>
          </a:p>
        </p:txBody>
      </p:sp>
      <p:sp>
        <p:nvSpPr>
          <p:cNvPr id="10" name="Shape 7"/>
          <p:cNvSpPr/>
          <p:nvPr/>
        </p:nvSpPr>
        <p:spPr>
          <a:xfrm>
            <a:off x="3383280" y="2743200"/>
            <a:ext cx="2651760" cy="1645920"/>
          </a:xfrm>
          <a:prstGeom prst="roundRect">
            <a:avLst>
              <a:gd name="adj" fmla="val 5556"/>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3566160" y="2926080"/>
            <a:ext cx="2286000" cy="54864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OpenTSLM-Flamingo</a:t>
            </a:r>
            <a:endParaRPr lang="en-US" sz="2000" dirty="0"/>
          </a:p>
        </p:txBody>
      </p:sp>
      <p:sp>
        <p:nvSpPr>
          <p:cNvPr id="12" name="Text 9"/>
          <p:cNvSpPr txBox="1"/>
          <p:nvPr/>
        </p:nvSpPr>
        <p:spPr>
          <a:xfrm>
            <a:off x="3566160" y="3566160"/>
            <a:ext cx="2286000" cy="640080"/>
          </a:xfrm>
          <a:prstGeom prst="rect">
            <a:avLst/>
          </a:prstGeom>
          <a:noFill/>
          <a:ln/>
        </p:spPr>
        <p:txBody>
          <a:bodyPr wrap="square" lIns="0" tIns="0" rIns="0" bIns="0" rtlCol="0" anchor="ctr"/>
          <a:lstStyle/>
          <a:p>
            <a:pPr indent="0" marL="0">
              <a:buNone/>
            </a:pPr>
            <a:r>
              <a:rPr lang="en-US" sz="1400" dirty="0">
                <a:solidFill>
                  <a:srgbClr val="5B6B84"/>
                </a:solidFill>
                <a:latin typeface="Calibri" pitchFamily="34" charset="0"/>
                <a:ea typeface="Calibri" pitchFamily="34" charset="-122"/>
                <a:cs typeface="Calibri" pitchFamily="34" charset="-120"/>
              </a:rPr>
              <a:t>Qwen3.5-4B + Chronos-2</a:t>
            </a:r>
            <a:endParaRPr lang="en-US" sz="1400" dirty="0"/>
          </a:p>
        </p:txBody>
      </p:sp>
      <p:sp>
        <p:nvSpPr>
          <p:cNvPr id="13" name="Shape 10"/>
          <p:cNvSpPr/>
          <p:nvPr/>
        </p:nvSpPr>
        <p:spPr>
          <a:xfrm>
            <a:off x="6217920" y="2743200"/>
            <a:ext cx="2651760" cy="1645920"/>
          </a:xfrm>
          <a:prstGeom prst="roundRect">
            <a:avLst>
              <a:gd name="adj" fmla="val 5556"/>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6400800" y="2926080"/>
            <a:ext cx="2286000" cy="54864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ITFormer</a:t>
            </a:r>
            <a:endParaRPr lang="en-US" sz="2000" dirty="0"/>
          </a:p>
        </p:txBody>
      </p:sp>
      <p:sp>
        <p:nvSpPr>
          <p:cNvPr id="15" name="Text 12"/>
          <p:cNvSpPr txBox="1"/>
          <p:nvPr/>
        </p:nvSpPr>
        <p:spPr>
          <a:xfrm>
            <a:off x="6400800" y="3566160"/>
            <a:ext cx="2286000" cy="640080"/>
          </a:xfrm>
          <a:prstGeom prst="rect">
            <a:avLst/>
          </a:prstGeom>
          <a:noFill/>
          <a:ln/>
        </p:spPr>
        <p:txBody>
          <a:bodyPr wrap="square" lIns="0" tIns="0" rIns="0" bIns="0" rtlCol="0" anchor="ctr"/>
          <a:lstStyle/>
          <a:p>
            <a:pPr indent="0" marL="0">
              <a:buNone/>
            </a:pPr>
            <a:r>
              <a:rPr lang="en-US" sz="1400" dirty="0">
                <a:solidFill>
                  <a:srgbClr val="5B6B84"/>
                </a:solidFill>
                <a:latin typeface="Calibri" pitchFamily="34" charset="0"/>
                <a:ea typeface="Calibri" pitchFamily="34" charset="-122"/>
                <a:cs typeface="Calibri" pitchFamily="34" charset="-120"/>
              </a:rPr>
              <a:t>Qwen3.5-4B + Chronos-2</a:t>
            </a:r>
            <a:endParaRPr lang="en-US" sz="1400" dirty="0"/>
          </a:p>
        </p:txBody>
      </p:sp>
      <p:sp>
        <p:nvSpPr>
          <p:cNvPr id="16" name="Shape 13"/>
          <p:cNvSpPr/>
          <p:nvPr/>
        </p:nvSpPr>
        <p:spPr>
          <a:xfrm>
            <a:off x="9052560" y="2743200"/>
            <a:ext cx="2651760" cy="1645920"/>
          </a:xfrm>
          <a:prstGeom prst="roundRect">
            <a:avLst>
              <a:gd name="adj" fmla="val 5556"/>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9235440" y="2926080"/>
            <a:ext cx="2286000" cy="54864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Toto</a:t>
            </a:r>
            <a:endParaRPr lang="en-US" sz="2000" dirty="0"/>
          </a:p>
        </p:txBody>
      </p:sp>
      <p:sp>
        <p:nvSpPr>
          <p:cNvPr id="18" name="Text 15"/>
          <p:cNvSpPr txBox="1"/>
          <p:nvPr/>
        </p:nvSpPr>
        <p:spPr>
          <a:xfrm>
            <a:off x="9235440" y="3566160"/>
            <a:ext cx="2286000" cy="640080"/>
          </a:xfrm>
          <a:prstGeom prst="rect">
            <a:avLst/>
          </a:prstGeom>
          <a:noFill/>
          <a:ln/>
        </p:spPr>
        <p:txBody>
          <a:bodyPr wrap="square" lIns="0" tIns="0" rIns="0" bIns="0" rtlCol="0" anchor="ctr"/>
          <a:lstStyle/>
          <a:p>
            <a:pPr indent="0" marL="0">
              <a:buNone/>
            </a:pPr>
            <a:r>
              <a:rPr lang="en-US" sz="1400" dirty="0">
                <a:solidFill>
                  <a:srgbClr val="5B6B84"/>
                </a:solidFill>
                <a:latin typeface="Calibri" pitchFamily="34" charset="0"/>
                <a:ea typeface="Calibri" pitchFamily="34" charset="-122"/>
                <a:cs typeface="Calibri" pitchFamily="34" charset="-120"/>
              </a:rPr>
              <a:t>Qwen3-VL 32B, fine-tuned</a:t>
            </a:r>
            <a:endParaRPr lang="en-US" sz="1400" dirty="0"/>
          </a:p>
        </p:txBody>
      </p:sp>
      <p:sp>
        <p:nvSpPr>
          <p:cNvPr id="19" name="Text 16"/>
          <p:cNvSpPr txBox="1"/>
          <p:nvPr/>
        </p:nvSpPr>
        <p:spPr>
          <a:xfrm>
            <a:off x="548640" y="4937760"/>
            <a:ext cx="11064240" cy="731520"/>
          </a:xfrm>
          <a:prstGeom prst="rect">
            <a:avLst/>
          </a:prstGeom>
          <a:noFill/>
          <a:ln/>
        </p:spPr>
        <p:txBody>
          <a:bodyPr wrap="square" lIns="0" tIns="0" rIns="0" bIns="0" rtlCol="0" anchor="ctr"/>
          <a:lstStyle/>
          <a:p>
            <a:pPr indent="0" marL="0">
              <a:buNone/>
            </a:pPr>
            <a:r>
              <a:rPr lang="en-US" sz="3200" b="1" dirty="0">
                <a:solidFill>
                  <a:srgbClr val="ED1C24"/>
                </a:solidFill>
                <a:latin typeface="Calibri" pitchFamily="34" charset="0"/>
                <a:ea typeface="Calibri" pitchFamily="34" charset="-122"/>
                <a:cs typeface="Calibri" pitchFamily="34" charset="-120"/>
              </a:rPr>
              <a:t>From today: Wavelet-TSLM</a:t>
            </a: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11827"/>
                </a:solidFill>
                <a:latin typeface="Calibri" pitchFamily="34" charset="0"/>
                <a:ea typeface="Calibri" pitchFamily="34" charset="-122"/>
                <a:cs typeface="Calibri" pitchFamily="34" charset="-120"/>
              </a:rPr>
              <a:t>Wavelet-TSLM: a Qwen that reads temporal embeddings</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Wavelet-TSLM · AMD Developer Hackathon: ACT III · Intelligent Industry     3/8</a:t>
            </a:r>
            <a:endParaRPr lang="en-US" sz="1100" dirty="0"/>
          </a:p>
        </p:txBody>
      </p:sp>
      <p:sp>
        <p:nvSpPr>
          <p:cNvPr id="5" name="Shape 2"/>
          <p:cNvSpPr/>
          <p:nvPr/>
        </p:nvSpPr>
        <p:spPr>
          <a:xfrm>
            <a:off x="548640" y="2011680"/>
            <a:ext cx="2468880" cy="1554480"/>
          </a:xfrm>
          <a:prstGeom prst="roundRect">
            <a:avLst>
              <a:gd name="adj" fmla="val 7059"/>
            </a:avLst>
          </a:prstGeom>
          <a:solidFill>
            <a:srgbClr val="0B1220"/>
          </a:solidFill>
          <a:ln w="12700">
            <a:solidFill>
              <a:srgbClr val="0B1220"/>
            </a:solidFill>
            <a:prstDash val="solid"/>
          </a:ln>
        </p:spPr>
      </p:sp>
      <p:sp>
        <p:nvSpPr>
          <p:cNvPr id="6" name="Text 3"/>
          <p:cNvSpPr txBox="1"/>
          <p:nvPr/>
        </p:nvSpPr>
        <p:spPr>
          <a:xfrm>
            <a:off x="548640" y="2011680"/>
            <a:ext cx="2468880" cy="1554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Time series</a:t>
            </a:r>
            <a:endParaRPr lang="en-US" sz="2200" dirty="0"/>
          </a:p>
        </p:txBody>
      </p:sp>
      <p:sp>
        <p:nvSpPr>
          <p:cNvPr id="7" name="Text 4"/>
          <p:cNvSpPr txBox="1"/>
          <p:nvPr/>
        </p:nvSpPr>
        <p:spPr>
          <a:xfrm>
            <a:off x="548640" y="3703320"/>
            <a:ext cx="2468880" cy="822960"/>
          </a:xfrm>
          <a:prstGeom prst="rect">
            <a:avLst/>
          </a:prstGeom>
          <a:noFill/>
          <a:ln/>
        </p:spPr>
        <p:txBody>
          <a:bodyPr wrap="square" lIns="0" tIns="0" rIns="0" bIns="0" rtlCol="0" anchor="ctr"/>
          <a:lstStyle/>
          <a:p>
            <a:pPr algn="ctr" indent="0" marL="0">
              <a:buNone/>
            </a:pPr>
            <a:r>
              <a:rPr lang="en-US" sz="1400" dirty="0">
                <a:solidFill>
                  <a:srgbClr val="5B6B84"/>
                </a:solidFill>
                <a:latin typeface="Calibri" pitchFamily="34" charset="0"/>
                <a:ea typeface="Calibri" pitchFamily="34" charset="-122"/>
                <a:cs typeface="Calibri" pitchFamily="34" charset="-120"/>
              </a:rPr>
              <a:t>up to 131,072 samples</a:t>
            </a:r>
            <a:endParaRPr lang="en-US" sz="1400" dirty="0"/>
          </a:p>
          <a:p>
            <a:pPr algn="ctr" indent="0" marL="0">
              <a:buNone/>
            </a:pPr>
            <a:r>
              <a:rPr lang="en-US" sz="1400" dirty="0">
                <a:solidFill>
                  <a:srgbClr val="5B6B84"/>
                </a:solidFill>
                <a:latin typeface="Calibri" pitchFamily="34" charset="0"/>
                <a:ea typeface="Calibri" pitchFamily="34" charset="-122"/>
                <a:cs typeface="Calibri" pitchFamily="34" charset="-120"/>
              </a:rPr>
              <a:t>per channel, many channels</a:t>
            </a:r>
            <a:endParaRPr lang="en-US" sz="1400" dirty="0"/>
          </a:p>
        </p:txBody>
      </p:sp>
      <p:sp>
        <p:nvSpPr>
          <p:cNvPr id="8" name="Text 5"/>
          <p:cNvSpPr txBox="1"/>
          <p:nvPr/>
        </p:nvSpPr>
        <p:spPr>
          <a:xfrm>
            <a:off x="3017520" y="2468880"/>
            <a:ext cx="365760" cy="640080"/>
          </a:xfrm>
          <a:prstGeom prst="rect">
            <a:avLst/>
          </a:prstGeom>
          <a:noFill/>
          <a:ln/>
        </p:spPr>
        <p:txBody>
          <a:bodyPr wrap="square" lIns="0" tIns="0" rIns="0" bIns="0" rtlCol="0" anchor="ctr"/>
          <a:lstStyle/>
          <a:p>
            <a:pPr algn="ctr" indent="0" marL="0">
              <a:buNone/>
            </a:pPr>
            <a:r>
              <a:rPr lang="en-US" sz="3200" b="1" dirty="0">
                <a:solidFill>
                  <a:srgbClr val="5B6B84"/>
                </a:solidFill>
                <a:latin typeface="Calibri" pitchFamily="34" charset="0"/>
                <a:ea typeface="Calibri" pitchFamily="34" charset="-122"/>
                <a:cs typeface="Calibri" pitchFamily="34" charset="-120"/>
              </a:rPr>
              <a:t>→</a:t>
            </a:r>
            <a:endParaRPr lang="en-US" sz="3200" dirty="0"/>
          </a:p>
        </p:txBody>
      </p:sp>
      <p:sp>
        <p:nvSpPr>
          <p:cNvPr id="9" name="Shape 6"/>
          <p:cNvSpPr/>
          <p:nvPr/>
        </p:nvSpPr>
        <p:spPr>
          <a:xfrm>
            <a:off x="3383280" y="2011680"/>
            <a:ext cx="2468880" cy="1554480"/>
          </a:xfrm>
          <a:prstGeom prst="roundRect">
            <a:avLst>
              <a:gd name="adj" fmla="val 7059"/>
            </a:avLst>
          </a:prstGeom>
          <a:solidFill>
            <a:srgbClr val="0B1220"/>
          </a:solidFill>
          <a:ln w="12700">
            <a:solidFill>
              <a:srgbClr val="0B1220"/>
            </a:solidFill>
            <a:prstDash val="solid"/>
          </a:ln>
        </p:spPr>
      </p:sp>
      <p:sp>
        <p:nvSpPr>
          <p:cNvPr id="10" name="Text 7"/>
          <p:cNvSpPr txBox="1"/>
          <p:nvPr/>
        </p:nvSpPr>
        <p:spPr>
          <a:xfrm>
            <a:off x="3383280" y="2011680"/>
            <a:ext cx="2468880" cy="1554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Haar-wavelet</a:t>
            </a:r>
            <a:endParaRPr lang="en-US" sz="2200" dirty="0"/>
          </a:p>
          <a:p>
            <a:pPr algn="ctr" indent="0" marL="0">
              <a:buNone/>
            </a:pPr>
            <a:r>
              <a:rPr lang="en-US" sz="2200" b="1" dirty="0">
                <a:solidFill>
                  <a:srgbClr val="FFFFFF"/>
                </a:solidFill>
                <a:latin typeface="Calibri" pitchFamily="34" charset="0"/>
                <a:ea typeface="Calibri" pitchFamily="34" charset="-122"/>
                <a:cs typeface="Calibri" pitchFamily="34" charset="-120"/>
              </a:rPr>
              <a:t>encoder</a:t>
            </a:r>
            <a:endParaRPr lang="en-US" sz="2200" dirty="0"/>
          </a:p>
        </p:txBody>
      </p:sp>
      <p:sp>
        <p:nvSpPr>
          <p:cNvPr id="11" name="Text 8"/>
          <p:cNvSpPr txBox="1"/>
          <p:nvPr/>
        </p:nvSpPr>
        <p:spPr>
          <a:xfrm>
            <a:off x="3383280" y="3703320"/>
            <a:ext cx="2468880" cy="822960"/>
          </a:xfrm>
          <a:prstGeom prst="rect">
            <a:avLst/>
          </a:prstGeom>
          <a:noFill/>
          <a:ln/>
        </p:spPr>
        <p:txBody>
          <a:bodyPr wrap="square" lIns="0" tIns="0" rIns="0" bIns="0" rtlCol="0" anchor="ctr"/>
          <a:lstStyle/>
          <a:p>
            <a:pPr algn="ctr" indent="0" marL="0">
              <a:buNone/>
            </a:pPr>
            <a:r>
              <a:rPr lang="en-US" sz="1400" dirty="0">
                <a:solidFill>
                  <a:srgbClr val="5B6B84"/>
                </a:solidFill>
                <a:latin typeface="Calibri" pitchFamily="34" charset="0"/>
                <a:ea typeface="Calibri" pitchFamily="34" charset="-122"/>
                <a:cs typeface="Calibri" pitchFamily="34" charset="-120"/>
              </a:rPr>
              <a:t>multiscale, continuous</a:t>
            </a:r>
            <a:endParaRPr lang="en-US" sz="1400" dirty="0"/>
          </a:p>
          <a:p>
            <a:pPr algn="ctr" indent="0" marL="0">
              <a:buNone/>
            </a:pPr>
            <a:r>
              <a:rPr lang="en-US" sz="1400" dirty="0">
                <a:solidFill>
                  <a:srgbClr val="5B6B84"/>
                </a:solidFill>
                <a:latin typeface="Calibri" pitchFamily="34" charset="0"/>
                <a:ea typeface="Calibri" pitchFamily="34" charset="-122"/>
                <a:cs typeface="Calibri" pitchFamily="34" charset="-120"/>
              </a:rPr>
              <a:t>(no text digits)</a:t>
            </a:r>
            <a:endParaRPr lang="en-US" sz="1400" dirty="0"/>
          </a:p>
        </p:txBody>
      </p:sp>
      <p:sp>
        <p:nvSpPr>
          <p:cNvPr id="12" name="Text 9"/>
          <p:cNvSpPr txBox="1"/>
          <p:nvPr/>
        </p:nvSpPr>
        <p:spPr>
          <a:xfrm>
            <a:off x="5852160" y="2468880"/>
            <a:ext cx="365760" cy="640080"/>
          </a:xfrm>
          <a:prstGeom prst="rect">
            <a:avLst/>
          </a:prstGeom>
          <a:noFill/>
          <a:ln/>
        </p:spPr>
        <p:txBody>
          <a:bodyPr wrap="square" lIns="0" tIns="0" rIns="0" bIns="0" rtlCol="0" anchor="ctr"/>
          <a:lstStyle/>
          <a:p>
            <a:pPr algn="ctr" indent="0" marL="0">
              <a:buNone/>
            </a:pPr>
            <a:r>
              <a:rPr lang="en-US" sz="3200" b="1" dirty="0">
                <a:solidFill>
                  <a:srgbClr val="5B6B84"/>
                </a:solidFill>
                <a:latin typeface="Calibri" pitchFamily="34" charset="0"/>
                <a:ea typeface="Calibri" pitchFamily="34" charset="-122"/>
                <a:cs typeface="Calibri" pitchFamily="34" charset="-120"/>
              </a:rPr>
              <a:t>→</a:t>
            </a:r>
            <a:endParaRPr lang="en-US" sz="3200" dirty="0"/>
          </a:p>
        </p:txBody>
      </p:sp>
      <p:sp>
        <p:nvSpPr>
          <p:cNvPr id="13" name="Shape 10"/>
          <p:cNvSpPr/>
          <p:nvPr/>
        </p:nvSpPr>
        <p:spPr>
          <a:xfrm>
            <a:off x="6217920" y="2011680"/>
            <a:ext cx="2468880" cy="1554480"/>
          </a:xfrm>
          <a:prstGeom prst="roundRect">
            <a:avLst>
              <a:gd name="adj" fmla="val 7059"/>
            </a:avLst>
          </a:prstGeom>
          <a:solidFill>
            <a:srgbClr val="ED1C24"/>
          </a:solidFill>
          <a:ln w="12700">
            <a:solidFill>
              <a:srgbClr val="ED1C24"/>
            </a:solidFill>
            <a:prstDash val="solid"/>
          </a:ln>
        </p:spPr>
      </p:sp>
      <p:sp>
        <p:nvSpPr>
          <p:cNvPr id="14" name="Text 11"/>
          <p:cNvSpPr txBox="1"/>
          <p:nvPr/>
        </p:nvSpPr>
        <p:spPr>
          <a:xfrm>
            <a:off x="6217920" y="2011680"/>
            <a:ext cx="2468880" cy="1554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Qwen3.5-4B</a:t>
            </a:r>
            <a:endParaRPr lang="en-US" sz="2200" dirty="0"/>
          </a:p>
          <a:p>
            <a:pPr algn="ctr" indent="0" marL="0">
              <a:buNone/>
            </a:pPr>
            <a:r>
              <a:rPr lang="en-US" sz="2200" b="1" dirty="0">
                <a:solidFill>
                  <a:srgbClr val="FFFFFF"/>
                </a:solidFill>
                <a:latin typeface="Calibri" pitchFamily="34" charset="0"/>
                <a:ea typeface="Calibri" pitchFamily="34" charset="-122"/>
                <a:cs typeface="Calibri" pitchFamily="34" charset="-120"/>
              </a:rPr>
              <a:t>+ LoRA</a:t>
            </a:r>
            <a:endParaRPr lang="en-US" sz="2200" dirty="0"/>
          </a:p>
        </p:txBody>
      </p:sp>
      <p:sp>
        <p:nvSpPr>
          <p:cNvPr id="15" name="Text 12"/>
          <p:cNvSpPr txBox="1"/>
          <p:nvPr/>
        </p:nvSpPr>
        <p:spPr>
          <a:xfrm>
            <a:off x="6217920" y="3703320"/>
            <a:ext cx="2468880" cy="822960"/>
          </a:xfrm>
          <a:prstGeom prst="rect">
            <a:avLst/>
          </a:prstGeom>
          <a:noFill/>
          <a:ln/>
        </p:spPr>
        <p:txBody>
          <a:bodyPr wrap="square" lIns="0" tIns="0" rIns="0" bIns="0" rtlCol="0" anchor="ctr"/>
          <a:lstStyle/>
          <a:p>
            <a:pPr algn="ctr" indent="0" marL="0">
              <a:buNone/>
            </a:pPr>
            <a:r>
              <a:rPr lang="en-US" sz="1400" dirty="0">
                <a:solidFill>
                  <a:srgbClr val="5B6B84"/>
                </a:solidFill>
                <a:latin typeface="Calibri" pitchFamily="34" charset="0"/>
                <a:ea typeface="Calibri" pitchFamily="34" charset="-122"/>
                <a:cs typeface="Calibri" pitchFamily="34" charset="-120"/>
              </a:rPr>
              <a:t>fine-tuned backbone</a:t>
            </a:r>
            <a:endParaRPr lang="en-US" sz="1400" dirty="0"/>
          </a:p>
        </p:txBody>
      </p:sp>
      <p:sp>
        <p:nvSpPr>
          <p:cNvPr id="16" name="Text 13"/>
          <p:cNvSpPr txBox="1"/>
          <p:nvPr/>
        </p:nvSpPr>
        <p:spPr>
          <a:xfrm>
            <a:off x="8686800" y="2468880"/>
            <a:ext cx="365760" cy="640080"/>
          </a:xfrm>
          <a:prstGeom prst="rect">
            <a:avLst/>
          </a:prstGeom>
          <a:noFill/>
          <a:ln/>
        </p:spPr>
        <p:txBody>
          <a:bodyPr wrap="square" lIns="0" tIns="0" rIns="0" bIns="0" rtlCol="0" anchor="ctr"/>
          <a:lstStyle/>
          <a:p>
            <a:pPr algn="ctr" indent="0" marL="0">
              <a:buNone/>
            </a:pPr>
            <a:r>
              <a:rPr lang="en-US" sz="3200" b="1" dirty="0">
                <a:solidFill>
                  <a:srgbClr val="5B6B84"/>
                </a:solidFill>
                <a:latin typeface="Calibri" pitchFamily="34" charset="0"/>
                <a:ea typeface="Calibri" pitchFamily="34" charset="-122"/>
                <a:cs typeface="Calibri" pitchFamily="34" charset="-120"/>
              </a:rPr>
              <a:t>→</a:t>
            </a:r>
            <a:endParaRPr lang="en-US" sz="3200" dirty="0"/>
          </a:p>
        </p:txBody>
      </p:sp>
      <p:sp>
        <p:nvSpPr>
          <p:cNvPr id="17" name="Shape 14"/>
          <p:cNvSpPr/>
          <p:nvPr/>
        </p:nvSpPr>
        <p:spPr>
          <a:xfrm>
            <a:off x="9052560" y="2011680"/>
            <a:ext cx="2468880" cy="1554480"/>
          </a:xfrm>
          <a:prstGeom prst="roundRect">
            <a:avLst>
              <a:gd name="adj" fmla="val 7059"/>
            </a:avLst>
          </a:prstGeom>
          <a:solidFill>
            <a:srgbClr val="0B1220"/>
          </a:solidFill>
          <a:ln w="12700">
            <a:solidFill>
              <a:srgbClr val="0B1220"/>
            </a:solidFill>
            <a:prstDash val="solid"/>
          </a:ln>
        </p:spPr>
      </p:sp>
      <p:sp>
        <p:nvSpPr>
          <p:cNvPr id="18" name="Text 15"/>
          <p:cNvSpPr txBox="1"/>
          <p:nvPr/>
        </p:nvSpPr>
        <p:spPr>
          <a:xfrm>
            <a:off x="9052560" y="2011680"/>
            <a:ext cx="2468880" cy="155448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Localization</a:t>
            </a:r>
            <a:endParaRPr lang="en-US" sz="2200" dirty="0"/>
          </a:p>
          <a:p>
            <a:pPr algn="ctr" indent="0" marL="0">
              <a:buNone/>
            </a:pPr>
            <a:r>
              <a:rPr lang="en-US" sz="2200" b="1" dirty="0">
                <a:solidFill>
                  <a:srgbClr val="FFFFFF"/>
                </a:solidFill>
                <a:latin typeface="Calibri" pitchFamily="34" charset="0"/>
                <a:ea typeface="Calibri" pitchFamily="34" charset="-122"/>
                <a:cs typeface="Calibri" pitchFamily="34" charset="-120"/>
              </a:rPr>
              <a:t>head</a:t>
            </a:r>
            <a:endParaRPr lang="en-US" sz="2200" dirty="0"/>
          </a:p>
        </p:txBody>
      </p:sp>
      <p:sp>
        <p:nvSpPr>
          <p:cNvPr id="19" name="Text 16"/>
          <p:cNvSpPr txBox="1"/>
          <p:nvPr/>
        </p:nvSpPr>
        <p:spPr>
          <a:xfrm>
            <a:off x="9052560" y="3703320"/>
            <a:ext cx="2468880" cy="822960"/>
          </a:xfrm>
          <a:prstGeom prst="rect">
            <a:avLst/>
          </a:prstGeom>
          <a:noFill/>
          <a:ln/>
        </p:spPr>
        <p:txBody>
          <a:bodyPr wrap="square" lIns="0" tIns="0" rIns="0" bIns="0" rtlCol="0" anchor="ctr"/>
          <a:lstStyle/>
          <a:p>
            <a:pPr algn="ctr" indent="0" marL="0">
              <a:buNone/>
            </a:pPr>
            <a:r>
              <a:rPr lang="en-US" sz="1400" dirty="0">
                <a:solidFill>
                  <a:srgbClr val="5B6B84"/>
                </a:solidFill>
                <a:latin typeface="Calibri" pitchFamily="34" charset="0"/>
                <a:ea typeface="Calibri" pitchFamily="34" charset="-122"/>
                <a:cs typeface="Calibri" pitchFamily="34" charset="-120"/>
              </a:rPr>
              <a:t>channel, start, end</a:t>
            </a:r>
            <a:endParaRPr lang="en-US" sz="1400" dirty="0"/>
          </a:p>
          <a:p>
            <a:pPr algn="ctr" indent="0" marL="0">
              <a:buNone/>
            </a:pPr>
            <a:r>
              <a:rPr lang="en-US" sz="1400" dirty="0">
                <a:solidFill>
                  <a:srgbClr val="5B6B84"/>
                </a:solidFill>
                <a:latin typeface="Calibri" pitchFamily="34" charset="0"/>
                <a:ea typeface="Calibri" pitchFamily="34" charset="-122"/>
                <a:cs typeface="Calibri" pitchFamily="34" charset="-120"/>
              </a:rPr>
              <a:t>of each anomaly</a:t>
            </a:r>
            <a:endParaRPr lang="en-US" sz="1400" dirty="0"/>
          </a:p>
        </p:txBody>
      </p:sp>
      <p:sp>
        <p:nvSpPr>
          <p:cNvPr id="20" name="Text 17"/>
          <p:cNvSpPr txBox="1"/>
          <p:nvPr/>
        </p:nvSpPr>
        <p:spPr>
          <a:xfrm>
            <a:off x="548640" y="5120640"/>
            <a:ext cx="11064240" cy="548640"/>
          </a:xfrm>
          <a:prstGeom prst="rect">
            <a:avLst/>
          </a:prstGeom>
          <a:noFill/>
          <a:ln/>
        </p:spPr>
        <p:txBody>
          <a:bodyPr wrap="square" lIns="0" tIns="0" rIns="0" bIns="0" rtlCol="0" anchor="ctr"/>
          <a:lstStyle/>
          <a:p>
            <a:pPr indent="0" marL="0">
              <a:buNone/>
            </a:pPr>
            <a:r>
              <a:rPr lang="en-US" sz="2000" dirty="0">
                <a:solidFill>
                  <a:srgbClr val="111827"/>
                </a:solidFill>
                <a:latin typeface="Calibri" pitchFamily="34" charset="0"/>
                <a:ea typeface="Calibri" pitchFamily="34" charset="-122"/>
                <a:cs typeface="Calibri" pitchFamily="34" charset="-120"/>
              </a:rPr>
              <a:t>Trained only on synthetic anomalies (AnomalyXL, ETH Zürich) · one call reads the whole window</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11827"/>
                </a:solidFill>
                <a:latin typeface="Calibri" pitchFamily="34" charset="0"/>
                <a:ea typeface="Calibri" pitchFamily="34" charset="-122"/>
                <a:cs typeface="Calibri" pitchFamily="34" charset="-120"/>
              </a:rPr>
              <a:t>Benchmark against the other TSLMs (ETH Zürich)</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Wavelet-TSLM · AMD Developer Hackathon: ACT III · Intelligent Industry     4/8</a:t>
            </a:r>
            <a:endParaRPr lang="en-US" sz="1100" dirty="0"/>
          </a:p>
        </p:txBody>
      </p:sp>
      <p:graphicFrame>
        <p:nvGraphicFramePr>
          <p:cNvPr id="5" name="Chart 0" descr=""/>
          <p:cNvGraphicFramePr/>
          <p:nvPr/>
        </p:nvGraphicFramePr>
        <p:xfrm>
          <a:off x="548640" y="1280160"/>
          <a:ext cx="11064240" cy="42062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623560"/>
            <a:ext cx="11064240" cy="685800"/>
          </a:xfrm>
          <a:prstGeom prst="rect">
            <a:avLst/>
          </a:prstGeom>
          <a:noFill/>
          <a:ln/>
        </p:spPr>
        <p:txBody>
          <a:bodyPr wrap="square" lIns="0" tIns="0" rIns="0" bIns="0" rtlCol="0" anchor="ctr"/>
          <a:lstStyle/>
          <a:p>
            <a:pPr indent="0" marL="0">
              <a:buNone/>
            </a:pPr>
            <a:r>
              <a:rPr lang="en-US" sz="1300" dirty="0">
                <a:solidFill>
                  <a:srgbClr val="5B6B84"/>
                </a:solidFill>
                <a:latin typeface="Calibri" pitchFamily="34" charset="0"/>
                <a:ea typeface="Calibri" pitchFamily="34" charset="-122"/>
                <a:cs typeface="Calibri" pitchFamily="34" charset="-120"/>
              </a:rPr>
              <a:t>Where we do not win: magnitude (0.31 vs Toto 0.82) and lead-lag (0.25 vs 0.35–0.56). ChatTS runs out of memory on multichannel. Baselines: Table 1, TimeRLM paper (arXiv 2608.03391). Ours: one call, no zoom, same scorer.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Why are the others close to zero? Input length</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9AA8BE"/>
                </a:solidFill>
                <a:latin typeface="Calibri" pitchFamily="34" charset="0"/>
                <a:ea typeface="Calibri" pitchFamily="34" charset="-122"/>
                <a:cs typeface="Calibri" pitchFamily="34" charset="-120"/>
              </a:rPr>
              <a:t>Wavelet-TSLM · AMD Developer Hackathon: ACT III · Intelligent Industry     5/8</a:t>
            </a:r>
            <a:endParaRPr lang="en-US" sz="1100" dirty="0"/>
          </a:p>
        </p:txBody>
      </p:sp>
      <p:sp>
        <p:nvSpPr>
          <p:cNvPr id="5" name="Text 2"/>
          <p:cNvSpPr txBox="1"/>
          <p:nvPr/>
        </p:nvSpPr>
        <p:spPr>
          <a:xfrm>
            <a:off x="731520" y="1554480"/>
            <a:ext cx="5029200" cy="2194560"/>
          </a:xfrm>
          <a:prstGeom prst="rect">
            <a:avLst/>
          </a:prstGeom>
          <a:noFill/>
          <a:ln/>
        </p:spPr>
        <p:txBody>
          <a:bodyPr wrap="square" lIns="0" tIns="0" rIns="0" bIns="0" rtlCol="0" anchor="ctr"/>
          <a:lstStyle/>
          <a:p>
            <a:pPr indent="0" marL="0">
              <a:buNone/>
            </a:pPr>
            <a:r>
              <a:rPr lang="en-US" sz="13000" b="1" dirty="0">
                <a:solidFill>
                  <a:srgbClr val="ED1C24"/>
                </a:solidFill>
                <a:latin typeface="Calibri" pitchFamily="34" charset="0"/>
                <a:ea typeface="Calibri" pitchFamily="34" charset="-122"/>
                <a:cs typeface="Calibri" pitchFamily="34" charset="-120"/>
              </a:rPr>
              <a:t>16×</a:t>
            </a:r>
            <a:endParaRPr lang="en-US" sz="13000" dirty="0"/>
          </a:p>
        </p:txBody>
      </p:sp>
      <p:sp>
        <p:nvSpPr>
          <p:cNvPr id="6" name="Text 3"/>
          <p:cNvSpPr txBox="1"/>
          <p:nvPr/>
        </p:nvSpPr>
        <p:spPr>
          <a:xfrm>
            <a:off x="731520" y="3840480"/>
            <a:ext cx="5029200" cy="914400"/>
          </a:xfrm>
          <a:prstGeom prst="rect">
            <a:avLst/>
          </a:prstGeom>
          <a:noFill/>
          <a:ln/>
        </p:spPr>
        <p:txBody>
          <a:bodyPr wrap="square" lIns="0" tIns="0" rIns="0" bIns="0" rtlCol="0" anchor="ctr"/>
          <a:lstStyle/>
          <a:p>
            <a:pPr indent="0" marL="0">
              <a:buNone/>
            </a:pPr>
            <a:r>
              <a:rPr lang="en-US" sz="2400" dirty="0">
                <a:solidFill>
                  <a:srgbClr val="FFFFFF"/>
                </a:solidFill>
                <a:latin typeface="Calibri" pitchFamily="34" charset="0"/>
                <a:ea typeface="Calibri" pitchFamily="34" charset="-122"/>
                <a:cs typeface="Calibri" pitchFamily="34" charset="-120"/>
              </a:rPr>
              <a:t>more samples per channel</a:t>
            </a:r>
            <a:endParaRPr lang="en-US" sz="2400" dirty="0"/>
          </a:p>
          <a:p>
            <a:pPr indent="0" marL="0">
              <a:buNone/>
            </a:pPr>
            <a:r>
              <a:rPr lang="en-US" sz="2400" dirty="0">
                <a:solidFill>
                  <a:srgbClr val="FFFFFF"/>
                </a:solidFill>
                <a:latin typeface="Calibri" pitchFamily="34" charset="0"/>
                <a:ea typeface="Calibri" pitchFamily="34" charset="-122"/>
                <a:cs typeface="Calibri" pitchFamily="34" charset="-120"/>
              </a:rPr>
              <a:t>in a single call</a:t>
            </a:r>
            <a:endParaRPr lang="en-US" sz="2400" dirty="0"/>
          </a:p>
        </p:txBody>
      </p:sp>
      <p:sp>
        <p:nvSpPr>
          <p:cNvPr id="7" name="Text 4"/>
          <p:cNvSpPr txBox="1"/>
          <p:nvPr/>
        </p:nvSpPr>
        <p:spPr>
          <a:xfrm>
            <a:off x="6217920" y="1737360"/>
            <a:ext cx="5394960" cy="3474720"/>
          </a:xfrm>
          <a:prstGeom prst="rect">
            <a:avLst/>
          </a:prstGeom>
          <a:noFill/>
          <a:ln/>
        </p:spPr>
        <p:txBody>
          <a:bodyPr wrap="square" lIns="0" tIns="0" rIns="0" bIns="0" rtlCol="0" anchor="ctr"/>
          <a:lstStyle/>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Wavelet-TSLM reads up to 131,072 samples per channel</a:t>
            </a:r>
            <a:endParaRPr lang="en-US" sz="2000" dirty="0"/>
          </a:p>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Baseline TSLMs see only the last 8,192 samples of each channel (Chronos-2 truncation)</a:t>
            </a:r>
            <a:endParaRPr lang="en-US" sz="2000" dirty="0"/>
          </a:p>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ChatTS runs out of memory on multichannel input</a:t>
            </a:r>
            <a:endParaRPr lang="en-US" sz="2000" dirty="0"/>
          </a:p>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The benchmark windows reach 131,072 samples: a design limit of those models, stated as fact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11827"/>
                </a:solidFill>
                <a:latin typeface="Calibri" pitchFamily="34" charset="0"/>
                <a:ea typeface="Calibri" pitchFamily="34" charset="-122"/>
                <a:cs typeface="Calibri" pitchFamily="34" charset="-120"/>
              </a:rPr>
              <a:t>The only long-series rival: Zumarraga's agent</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Wavelet-TSLM · AMD Developer Hackathon: ACT III · Intelligent Industry     6/8</a:t>
            </a:r>
            <a:endParaRPr lang="en-US" sz="1100" dirty="0"/>
          </a:p>
        </p:txBody>
      </p:sp>
      <p:graphicFrame>
        <p:nvGraphicFramePr>
          <p:cNvPr id="5" name="Chart 0" descr=""/>
          <p:cNvGraphicFramePr/>
          <p:nvPr/>
        </p:nvGraphicFramePr>
        <p:xfrm>
          <a:off x="548640" y="1280160"/>
          <a:ext cx="7223760" cy="44805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46720" y="1463040"/>
            <a:ext cx="3566160" cy="4206240"/>
          </a:xfrm>
          <a:prstGeom prst="rect">
            <a:avLst/>
          </a:prstGeom>
          <a:noFill/>
          <a:ln/>
        </p:spPr>
        <p:txBody>
          <a:bodyPr wrap="square" lIns="0" tIns="0" rIns="0" bIns="0" rtlCol="0" anchor="ctr"/>
          <a:lstStyle/>
          <a:p>
            <a:pPr indent="0" marL="0">
              <a:spcAft>
                <a:spcPts val="400"/>
              </a:spcAft>
              <a:buNone/>
            </a:pPr>
            <a:r>
              <a:rPr lang="en-US" sz="1600" b="1" dirty="0">
                <a:solidFill>
                  <a:srgbClr val="111827"/>
                </a:solidFill>
                <a:latin typeface="Calibri" pitchFamily="34" charset="0"/>
                <a:ea typeface="Calibri" pitchFamily="34" charset="-122"/>
                <a:cs typeface="Calibri" pitchFamily="34" charset="-120"/>
              </a:rPr>
              <a:t>Not a native TSLM</a:t>
            </a:r>
            <a:endParaRPr lang="en-US" sz="1600" dirty="0"/>
          </a:p>
          <a:p>
            <a:pPr indent="0" marL="0">
              <a:spcAft>
                <a:spcPts val="400"/>
              </a:spcAft>
              <a:buNone/>
            </a:pPr>
            <a:r>
              <a:rPr lang="en-US" sz="1600" dirty="0">
                <a:solidFill>
                  <a:srgbClr val="111827"/>
                </a:solidFill>
                <a:latin typeface="Calibri" pitchFamily="34" charset="0"/>
                <a:ea typeface="Calibri" pitchFamily="34" charset="-122"/>
                <a:cs typeface="Calibri" pitchFamily="34" charset="-120"/>
              </a:rPr>
              <a:t>A Qwen without a temporal encoder, working with Python code in a sandbox</a:t>
            </a:r>
            <a:endParaRPr lang="en-US" sz="1600" dirty="0"/>
          </a:p>
          <a:p>
            <a:pPr indent="0" marL="0">
              <a:spcAft>
                <a:spcPts val="400"/>
              </a:spcAft>
              <a:buNone/>
            </a:pPr>
            <a:r>
              <a:rPr lang="en-US" sz="1600" dirty="0">
                <a:solidFill>
                  <a:srgbClr val="111827"/>
                </a:solidFill>
                <a:latin typeface="Calibri" pitchFamily="34" charset="0"/>
                <a:ea typeface="Calibri" pitchFamily="34" charset="-122"/>
                <a:cs typeface="Calibri" pitchFamily="34" charset="-120"/>
              </a:rPr>
              <a:t> </a:t>
            </a:r>
            <a:endParaRPr lang="en-US" sz="1600" dirty="0"/>
          </a:p>
          <a:p>
            <a:pPr indent="0" marL="0">
              <a:spcAft>
                <a:spcPts val="400"/>
              </a:spcAft>
              <a:buNone/>
            </a:pPr>
            <a:r>
              <a:rPr lang="en-US" sz="1600" b="1" dirty="0">
                <a:solidFill>
                  <a:srgbClr val="111827"/>
                </a:solidFill>
                <a:latin typeface="Calibri" pitchFamily="34" charset="0"/>
                <a:ea typeface="Calibri" pitchFamily="34" charset="-122"/>
                <a:cs typeface="Calibri" pitchFamily="34" charset="-120"/>
              </a:rPr>
              <a:t>Cost on industrial windows</a:t>
            </a:r>
            <a:endParaRPr lang="en-US" sz="1600" dirty="0"/>
          </a:p>
          <a:p>
            <a:pPr indent="0" marL="0">
              <a:spcAft>
                <a:spcPts val="400"/>
              </a:spcAft>
              <a:buNone/>
            </a:pPr>
            <a:r>
              <a:rPr lang="en-US" sz="1600" dirty="0">
                <a:solidFill>
                  <a:srgbClr val="111827"/>
                </a:solidFill>
                <a:latin typeface="Calibri" pitchFamily="34" charset="0"/>
                <a:ea typeface="Calibri" pitchFamily="34" charset="-122"/>
                <a:cs typeface="Calibri" pitchFamily="34" charset="-120"/>
              </a:rPr>
              <a:t>Agent: about 7 turns and 5 minutes per window</a:t>
            </a:r>
            <a:endParaRPr lang="en-US" sz="1600" dirty="0"/>
          </a:p>
          <a:p>
            <a:pPr indent="0" marL="0">
              <a:spcAft>
                <a:spcPts val="400"/>
              </a:spcAft>
              <a:buNone/>
            </a:pPr>
            <a:r>
              <a:rPr lang="en-US" sz="1600" dirty="0">
                <a:solidFill>
                  <a:srgbClr val="111827"/>
                </a:solidFill>
                <a:latin typeface="Calibri" pitchFamily="34" charset="0"/>
                <a:ea typeface="Calibri" pitchFamily="34" charset="-122"/>
                <a:cs typeface="Calibri" pitchFamily="34" charset="-120"/>
              </a:rPr>
              <a:t>Wavelet-TSLM: 1 call</a:t>
            </a:r>
            <a:endParaRPr lang="en-US" sz="1600" dirty="0"/>
          </a:p>
          <a:p>
            <a:pPr indent="0" marL="0">
              <a:spcAft>
                <a:spcPts val="400"/>
              </a:spcAft>
              <a:buNone/>
            </a:pPr>
            <a:r>
              <a:rPr lang="en-US" sz="1600" dirty="0">
                <a:solidFill>
                  <a:srgbClr val="111827"/>
                </a:solidFill>
                <a:latin typeface="Calibri" pitchFamily="34" charset="0"/>
                <a:ea typeface="Calibri" pitchFamily="34" charset="-122"/>
                <a:cs typeface="Calibri" pitchFamily="34" charset="-120"/>
              </a:rPr>
              <a:t> </a:t>
            </a:r>
            <a:endParaRPr lang="en-US" sz="1600" dirty="0"/>
          </a:p>
          <a:p>
            <a:pPr indent="0" marL="0">
              <a:spcAft>
                <a:spcPts val="400"/>
              </a:spcAft>
              <a:buNone/>
            </a:pPr>
            <a:r>
              <a:rPr lang="en-US" sz="1600" i="1" dirty="0">
                <a:solidFill>
                  <a:srgbClr val="111827"/>
                </a:solidFill>
                <a:latin typeface="Calibri" pitchFamily="34" charset="0"/>
                <a:ea typeface="Calibri" pitchFamily="34" charset="-122"/>
                <a:cs typeface="Calibri" pitchFamily="34" charset="-120"/>
              </a:rPr>
              <a:t>Agents backed by GPT-5.5 score higher (localize 0.66–0.68)</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111827"/>
                </a:solidFill>
                <a:latin typeface="Calibri" pitchFamily="34" charset="0"/>
                <a:ea typeface="Calibri" pitchFamily="34" charset="-122"/>
                <a:cs typeface="Calibri" pitchFamily="34" charset="-120"/>
              </a:rPr>
              <a:t>Zero-shot on a real plant: HAI 21.03</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5B6B84"/>
                </a:solidFill>
                <a:latin typeface="Calibri" pitchFamily="34" charset="0"/>
                <a:ea typeface="Calibri" pitchFamily="34" charset="-122"/>
                <a:cs typeface="Calibri" pitchFamily="34" charset="-120"/>
              </a:rPr>
              <a:t>Wavelet-TSLM · AMD Developer Hackathon: ACT III · Intelligent Industry     7/8</a:t>
            </a:r>
            <a:endParaRPr lang="en-US" sz="1100" dirty="0"/>
          </a:p>
        </p:txBody>
      </p:sp>
      <p:sp>
        <p:nvSpPr>
          <p:cNvPr id="5" name="Shape 2"/>
          <p:cNvSpPr/>
          <p:nvPr/>
        </p:nvSpPr>
        <p:spPr>
          <a:xfrm>
            <a:off x="548640" y="1463040"/>
            <a:ext cx="3566160" cy="2651760"/>
          </a:xfrm>
          <a:prstGeom prst="roundRect">
            <a:avLst>
              <a:gd name="adj" fmla="val 3448"/>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48640" y="1645920"/>
            <a:ext cx="3566160" cy="1280160"/>
          </a:xfrm>
          <a:prstGeom prst="rect">
            <a:avLst/>
          </a:prstGeom>
          <a:noFill/>
          <a:ln/>
        </p:spPr>
        <p:txBody>
          <a:bodyPr wrap="square" lIns="0" tIns="0" rIns="0" bIns="0" rtlCol="0" anchor="ctr"/>
          <a:lstStyle/>
          <a:p>
            <a:pPr algn="ctr" indent="0" marL="0">
              <a:buNone/>
            </a:pPr>
            <a:r>
              <a:rPr lang="en-US" sz="6000" b="1" dirty="0">
                <a:solidFill>
                  <a:srgbClr val="ED1C24"/>
                </a:solidFill>
                <a:latin typeface="Calibri" pitchFamily="34" charset="0"/>
                <a:ea typeface="Calibri" pitchFamily="34" charset="-122"/>
                <a:cs typeface="Calibri" pitchFamily="34" charset="-120"/>
              </a:rPr>
              <a:t>34 / 50</a:t>
            </a:r>
            <a:endParaRPr lang="en-US" sz="6000" dirty="0"/>
          </a:p>
        </p:txBody>
      </p:sp>
      <p:sp>
        <p:nvSpPr>
          <p:cNvPr id="7" name="Text 4"/>
          <p:cNvSpPr txBox="1"/>
          <p:nvPr/>
        </p:nvSpPr>
        <p:spPr>
          <a:xfrm>
            <a:off x="731520" y="3017520"/>
            <a:ext cx="3200400" cy="914400"/>
          </a:xfrm>
          <a:prstGeom prst="rect">
            <a:avLst/>
          </a:prstGeom>
          <a:noFill/>
          <a:ln/>
        </p:spPr>
        <p:txBody>
          <a:bodyPr wrap="square" lIns="0" tIns="0" rIns="0" bIns="0" rtlCol="0" anchor="ctr"/>
          <a:lstStyle/>
          <a:p>
            <a:pPr algn="ctr" indent="0" marL="0">
              <a:buNone/>
            </a:pPr>
            <a:r>
              <a:rPr lang="en-US" sz="1600" dirty="0">
                <a:solidFill>
                  <a:srgbClr val="5B6B84"/>
                </a:solidFill>
                <a:latin typeface="Calibri" pitchFamily="34" charset="0"/>
                <a:ea typeface="Calibri" pitchFamily="34" charset="-122"/>
                <a:cs typeface="Calibri" pitchFamily="34" charset="-120"/>
              </a:rPr>
              <a:t>attacks touched by an interval</a:t>
            </a:r>
            <a:endParaRPr lang="en-US" sz="1600" dirty="0"/>
          </a:p>
          <a:p>
            <a:pPr algn="ctr" indent="0" marL="0">
              <a:buNone/>
            </a:pPr>
            <a:r>
              <a:rPr lang="en-US" sz="1600" dirty="0">
                <a:solidFill>
                  <a:srgbClr val="5B6B84"/>
                </a:solidFill>
                <a:latin typeface="Calibri" pitchFamily="34" charset="0"/>
                <a:ea typeface="Calibri" pitchFamily="34" charset="-122"/>
                <a:cs typeface="Calibri" pitchFamily="34" charset="-120"/>
              </a:rPr>
              <a:t>(about 7 expected at random)</a:t>
            </a:r>
            <a:endParaRPr lang="en-US" sz="1600" dirty="0"/>
          </a:p>
        </p:txBody>
      </p:sp>
      <p:sp>
        <p:nvSpPr>
          <p:cNvPr id="8" name="Shape 5"/>
          <p:cNvSpPr/>
          <p:nvPr/>
        </p:nvSpPr>
        <p:spPr>
          <a:xfrm>
            <a:off x="4297680" y="1463040"/>
            <a:ext cx="3566160" cy="2651760"/>
          </a:xfrm>
          <a:prstGeom prst="roundRect">
            <a:avLst>
              <a:gd name="adj" fmla="val 3448"/>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297680" y="1645920"/>
            <a:ext cx="3566160" cy="1280160"/>
          </a:xfrm>
          <a:prstGeom prst="rect">
            <a:avLst/>
          </a:prstGeom>
          <a:noFill/>
          <a:ln/>
        </p:spPr>
        <p:txBody>
          <a:bodyPr wrap="square" lIns="0" tIns="0" rIns="0" bIns="0" rtlCol="0" anchor="ctr"/>
          <a:lstStyle/>
          <a:p>
            <a:pPr algn="ctr" indent="0" marL="0">
              <a:buNone/>
            </a:pPr>
            <a:r>
              <a:rPr lang="en-US" sz="6000" b="1" dirty="0">
                <a:solidFill>
                  <a:srgbClr val="ED1C24"/>
                </a:solidFill>
                <a:latin typeface="Calibri" pitchFamily="34" charset="0"/>
                <a:ea typeface="Calibri" pitchFamily="34" charset="-122"/>
                <a:cs typeface="Calibri" pitchFamily="34" charset="-120"/>
              </a:rPr>
              <a:t>60 %</a:t>
            </a:r>
            <a:endParaRPr lang="en-US" sz="6000" dirty="0"/>
          </a:p>
        </p:txBody>
      </p:sp>
      <p:sp>
        <p:nvSpPr>
          <p:cNvPr id="10" name="Text 7"/>
          <p:cNvSpPr txBox="1"/>
          <p:nvPr/>
        </p:nvSpPr>
        <p:spPr>
          <a:xfrm>
            <a:off x="4480560" y="3017520"/>
            <a:ext cx="3200400" cy="914400"/>
          </a:xfrm>
          <a:prstGeom prst="rect">
            <a:avLst/>
          </a:prstGeom>
          <a:noFill/>
          <a:ln/>
        </p:spPr>
        <p:txBody>
          <a:bodyPr wrap="square" lIns="0" tIns="0" rIns="0" bIns="0" rtlCol="0" anchor="ctr"/>
          <a:lstStyle/>
          <a:p>
            <a:pPr algn="ctr" indent="0" marL="0">
              <a:buNone/>
            </a:pPr>
            <a:r>
              <a:rPr lang="en-US" sz="1600" dirty="0">
                <a:solidFill>
                  <a:srgbClr val="5B6B84"/>
                </a:solidFill>
                <a:latin typeface="Calibri" pitchFamily="34" charset="0"/>
                <a:ea typeface="Calibri" pitchFamily="34" charset="-122"/>
                <a:cs typeface="Calibri" pitchFamily="34" charset="-120"/>
              </a:rPr>
              <a:t>of the intervals land on an attack</a:t>
            </a:r>
            <a:endParaRPr lang="en-US" sz="1600" dirty="0"/>
          </a:p>
          <a:p>
            <a:pPr algn="ctr" indent="0" marL="0">
              <a:buNone/>
            </a:pPr>
            <a:r>
              <a:rPr lang="en-US" sz="1600" dirty="0">
                <a:solidFill>
                  <a:srgbClr val="5B6B84"/>
                </a:solidFill>
                <a:latin typeface="Calibri" pitchFamily="34" charset="0"/>
                <a:ea typeface="Calibri" pitchFamily="34" charset="-122"/>
                <a:cs typeface="Calibri" pitchFamily="34" charset="-120"/>
              </a:rPr>
              <a:t>(4.5 % at random)</a:t>
            </a:r>
            <a:endParaRPr lang="en-US" sz="1600" dirty="0"/>
          </a:p>
        </p:txBody>
      </p:sp>
      <p:sp>
        <p:nvSpPr>
          <p:cNvPr id="11" name="Shape 8"/>
          <p:cNvSpPr/>
          <p:nvPr/>
        </p:nvSpPr>
        <p:spPr>
          <a:xfrm>
            <a:off x="8046720" y="1463040"/>
            <a:ext cx="3566160" cy="2651760"/>
          </a:xfrm>
          <a:prstGeom prst="roundRect">
            <a:avLst>
              <a:gd name="adj" fmla="val 3448"/>
            </a:avLst>
          </a:prstGeom>
          <a:solidFill>
            <a:srgbClr val="FFFFFF"/>
          </a:solidFill>
          <a:ln w="12700">
            <a:solidFill>
              <a:srgbClr val="D5DBE6"/>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8046720" y="1645920"/>
            <a:ext cx="3566160" cy="1280160"/>
          </a:xfrm>
          <a:prstGeom prst="rect">
            <a:avLst/>
          </a:prstGeom>
          <a:noFill/>
          <a:ln/>
        </p:spPr>
        <p:txBody>
          <a:bodyPr wrap="square" lIns="0" tIns="0" rIns="0" bIns="0" rtlCol="0" anchor="ctr"/>
          <a:lstStyle/>
          <a:p>
            <a:pPr algn="ctr" indent="0" marL="0">
              <a:buNone/>
            </a:pPr>
            <a:r>
              <a:rPr lang="en-US" sz="6000" b="1" dirty="0">
                <a:solidFill>
                  <a:srgbClr val="ED1C24"/>
                </a:solidFill>
                <a:latin typeface="Calibri" pitchFamily="34" charset="0"/>
                <a:ea typeface="Calibri" pitchFamily="34" charset="-122"/>
                <a:cs typeface="Calibri" pitchFamily="34" charset="-120"/>
              </a:rPr>
              <a:t>1 call</a:t>
            </a:r>
            <a:endParaRPr lang="en-US" sz="6000" dirty="0"/>
          </a:p>
        </p:txBody>
      </p:sp>
      <p:sp>
        <p:nvSpPr>
          <p:cNvPr id="13" name="Text 10"/>
          <p:cNvSpPr txBox="1"/>
          <p:nvPr/>
        </p:nvSpPr>
        <p:spPr>
          <a:xfrm>
            <a:off x="8229600" y="3017520"/>
            <a:ext cx="3200400" cy="914400"/>
          </a:xfrm>
          <a:prstGeom prst="rect">
            <a:avLst/>
          </a:prstGeom>
          <a:noFill/>
          <a:ln/>
        </p:spPr>
        <p:txBody>
          <a:bodyPr wrap="square" lIns="0" tIns="0" rIns="0" bIns="0" rtlCol="0" anchor="ctr"/>
          <a:lstStyle/>
          <a:p>
            <a:pPr algn="ctr" indent="0" marL="0">
              <a:buNone/>
            </a:pPr>
            <a:r>
              <a:rPr lang="en-US" sz="1600" dirty="0">
                <a:solidFill>
                  <a:srgbClr val="5B6B84"/>
                </a:solidFill>
                <a:latin typeface="Calibri" pitchFamily="34" charset="0"/>
                <a:ea typeface="Calibri" pitchFamily="34" charset="-122"/>
                <a:cs typeface="Calibri" pitchFamily="34" charset="-120"/>
              </a:rPr>
              <a:t>per 9-hour, 16-channel window</a:t>
            </a:r>
            <a:endParaRPr lang="en-US" sz="1600" dirty="0"/>
          </a:p>
        </p:txBody>
      </p:sp>
      <p:sp>
        <p:nvSpPr>
          <p:cNvPr id="14" name="Text 11"/>
          <p:cNvSpPr txBox="1"/>
          <p:nvPr/>
        </p:nvSpPr>
        <p:spPr>
          <a:xfrm>
            <a:off x="548640" y="4480560"/>
            <a:ext cx="11064240" cy="1097280"/>
          </a:xfrm>
          <a:prstGeom prst="rect">
            <a:avLst/>
          </a:prstGeom>
          <a:noFill/>
          <a:ln/>
        </p:spPr>
        <p:txBody>
          <a:bodyPr wrap="square" lIns="0" tIns="0" rIns="0" bIns="0" rtlCol="0" anchor="ctr"/>
          <a:lstStyle/>
          <a:p>
            <a:pPr indent="0" marL="0">
              <a:buNone/>
            </a:pPr>
            <a:r>
              <a:rPr lang="en-US" sz="1800" b="1" dirty="0">
                <a:solidFill>
                  <a:srgbClr val="111827"/>
                </a:solidFill>
                <a:latin typeface="Calibri" pitchFamily="34" charset="0"/>
                <a:ea typeface="Calibri" pitchFamily="34" charset="-122"/>
                <a:cs typeface="Calibri" pitchFamily="34" charset="-120"/>
              </a:rPr>
              <a:t>Honest limit: </a:t>
            </a:r>
            <a:pPr indent="0" marL="0">
              <a:buNone/>
            </a:pPr>
            <a:r>
              <a:rPr lang="en-US" sz="1800" dirty="0">
                <a:solidFill>
                  <a:srgbClr val="111827"/>
                </a:solidFill>
                <a:latin typeface="Calibri" pitchFamily="34" charset="0"/>
                <a:ea typeface="Calibri" pitchFamily="34" charset="-122"/>
                <a:cs typeface="Calibri" pitchFamily="34" charset="-120"/>
              </a:rPr>
              <a:t>it also flags the 18 of 18 windows with no attack, so it ranks the most anomalous stretches; it is not an alarm. On MetroPT-3 (4 slow air-leak failures) it did not transfer.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Built and measured on AMD</a:t>
            </a:r>
            <a:endParaRPr lang="en-US" sz="3600" dirty="0"/>
          </a:p>
        </p:txBody>
      </p:sp>
      <p:sp>
        <p:nvSpPr>
          <p:cNvPr id="3" name="Text 1"/>
          <p:cNvSpPr txBox="1"/>
          <p:nvPr/>
        </p:nvSpPr>
        <p:spPr>
          <a:xfrm>
            <a:off x="548640" y="6400800"/>
            <a:ext cx="11064240" cy="274320"/>
          </a:xfrm>
          <a:prstGeom prst="rect">
            <a:avLst/>
          </a:prstGeom>
          <a:noFill/>
          <a:ln/>
        </p:spPr>
        <p:txBody>
          <a:bodyPr wrap="square" lIns="0" tIns="0" rIns="0" bIns="0" rtlCol="0" anchor="ctr"/>
          <a:lstStyle/>
          <a:p>
            <a:pPr indent="0" marL="0">
              <a:buNone/>
            </a:pPr>
            <a:r>
              <a:rPr lang="en-US" sz="1100" dirty="0">
                <a:solidFill>
                  <a:srgbClr val="9AA8BE"/>
                </a:solidFill>
                <a:latin typeface="Calibri" pitchFamily="34" charset="0"/>
                <a:ea typeface="Calibri" pitchFamily="34" charset="-122"/>
                <a:cs typeface="Calibri" pitchFamily="34" charset="-120"/>
              </a:rPr>
              <a:t>Wavelet-TSLM · AMD Developer Hackathon: ACT III · Intelligent Industry     8/8</a:t>
            </a:r>
            <a:endParaRPr lang="en-US" sz="1100" dirty="0"/>
          </a:p>
        </p:txBody>
      </p:sp>
      <p:sp>
        <p:nvSpPr>
          <p:cNvPr id="5" name="Text 2"/>
          <p:cNvSpPr txBox="1"/>
          <p:nvPr/>
        </p:nvSpPr>
        <p:spPr>
          <a:xfrm>
            <a:off x="731520" y="1554480"/>
            <a:ext cx="5029200" cy="1828800"/>
          </a:xfrm>
          <a:prstGeom prst="rect">
            <a:avLst/>
          </a:prstGeom>
          <a:noFill/>
          <a:ln/>
        </p:spPr>
        <p:txBody>
          <a:bodyPr wrap="square" lIns="0" tIns="0" rIns="0" bIns="0" rtlCol="0" anchor="ctr"/>
          <a:lstStyle/>
          <a:p>
            <a:pPr indent="0" marL="0">
              <a:buNone/>
            </a:pPr>
            <a:r>
              <a:rPr lang="en-US" sz="11000" b="1" dirty="0">
                <a:solidFill>
                  <a:srgbClr val="ED1C24"/>
                </a:solidFill>
                <a:latin typeface="Calibri" pitchFamily="34" charset="0"/>
                <a:ea typeface="Calibri" pitchFamily="34" charset="-122"/>
                <a:cs typeface="Calibri" pitchFamily="34" charset="-120"/>
              </a:rPr>
              <a:t>18.7×</a:t>
            </a:r>
            <a:endParaRPr lang="en-US" sz="11000" dirty="0"/>
          </a:p>
        </p:txBody>
      </p:sp>
      <p:sp>
        <p:nvSpPr>
          <p:cNvPr id="6" name="Text 3"/>
          <p:cNvSpPr txBox="1"/>
          <p:nvPr/>
        </p:nvSpPr>
        <p:spPr>
          <a:xfrm>
            <a:off x="731520" y="3566160"/>
            <a:ext cx="5303520" cy="10058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less attention memory at 16k context</a:t>
            </a:r>
            <a:endParaRPr lang="en-US" sz="2000" dirty="0"/>
          </a:p>
          <a:p>
            <a:pPr indent="0" marL="0">
              <a:buNone/>
            </a:pPr>
            <a:r>
              <a:rPr lang="en-US" sz="2000" dirty="0">
                <a:solidFill>
                  <a:srgbClr val="FFFFFF"/>
                </a:solidFill>
                <a:latin typeface="Calibri" pitchFamily="34" charset="0"/>
                <a:ea typeface="Calibri" pitchFamily="34" charset="-122"/>
                <a:cs typeface="Calibri" pitchFamily="34" charset="-120"/>
              </a:rPr>
              <a:t>65.4 GiB → 3.5 GiB (forward + backward)</a:t>
            </a:r>
            <a:endParaRPr lang="en-US" sz="2000" dirty="0"/>
          </a:p>
        </p:txBody>
      </p:sp>
      <p:sp>
        <p:nvSpPr>
          <p:cNvPr id="7" name="Text 4"/>
          <p:cNvSpPr txBox="1"/>
          <p:nvPr/>
        </p:nvSpPr>
        <p:spPr>
          <a:xfrm>
            <a:off x="6400800" y="1737360"/>
            <a:ext cx="5212080" cy="2926080"/>
          </a:xfrm>
          <a:prstGeom prst="rect">
            <a:avLst/>
          </a:prstGeom>
          <a:noFill/>
          <a:ln/>
        </p:spPr>
        <p:txBody>
          <a:bodyPr wrap="square" lIns="0" tIns="0" rIns="0" bIns="0" rtlCol="0" anchor="ctr"/>
          <a:lstStyle/>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PyTorch on ROCm 6.4, AMD Instinct MI300X</a:t>
            </a:r>
            <a:endParaRPr lang="en-US" sz="2000" dirty="0"/>
          </a:p>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FlexAttention (Triton) padded to 512</a:t>
            </a:r>
            <a:endParaRPr lang="en-US" sz="2000" dirty="0"/>
          </a:p>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4 MI300X droplets on the AMD Developer Cloud, under $10 in total</a:t>
            </a:r>
            <a:endParaRPr lang="en-US" sz="2000" dirty="0"/>
          </a:p>
          <a:p>
            <a:pPr marL="342900" indent="-342900">
              <a:spcAft>
                <a:spcPts val="1400"/>
              </a:spcAft>
              <a:buSzPct val="100000"/>
              <a:buChar char="•"/>
            </a:pPr>
            <a:r>
              <a:rPr lang="en-US" sz="2000" dirty="0">
                <a:solidFill>
                  <a:srgbClr val="FFFFFF"/>
                </a:solidFill>
                <a:latin typeface="Calibri" pitchFamily="34" charset="0"/>
                <a:ea typeface="Calibri" pitchFamily="34" charset="-122"/>
                <a:cs typeface="Calibri" pitchFamily="34" charset="-120"/>
              </a:rPr>
              <a:t>Same checkpoint, no retraining</a:t>
            </a:r>
            <a:endParaRPr lang="en-US" sz="2000" dirty="0"/>
          </a:p>
        </p:txBody>
      </p:sp>
      <p:sp>
        <p:nvSpPr>
          <p:cNvPr id="8" name="Text 5"/>
          <p:cNvSpPr txBox="1"/>
          <p:nvPr/>
        </p:nvSpPr>
        <p:spPr>
          <a:xfrm>
            <a:off x="731520" y="5120640"/>
            <a:ext cx="10881360" cy="7315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Wavelet-TSLM: a new Time Series Language Model, on AMD. Thank you.</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Wavelet-TSLM</dc:title>
  <dc:subject>PptxGenJS Presentation</dc:subject>
  <dc:creator>Jacopo D'Abundo</dc:creator>
  <cp:lastModifiedBy>Jacopo D'Abundo</cp:lastModifiedBy>
  <cp:revision>1</cp:revision>
  <dcterms:created xsi:type="dcterms:W3CDTF">2026-10-18T09:59:30Z</dcterms:created>
  <dcterms:modified xsi:type="dcterms:W3CDTF">2026-10-18T09:59:30Z</dcterms:modified>
</cp:coreProperties>
</file>